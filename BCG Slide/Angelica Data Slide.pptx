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117" d="100"/>
          <a:sy n="117" d="100"/>
        </p:scale>
        <p:origin x="176" y="41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Volumes/Big%20file%203/BCGX/Campaign_Data_Week1_new.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Volumes/Big%20file%203/BCGX/Campaign_Data_Week1_new.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[Campaign_Data_Week1_new.xlsx]Campaign+Channel!PivotTable4</c:name>
    <c:fmtId val="5"/>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'Campaign+Channel'!$B$3:$B$4</c:f>
              <c:strCache>
                <c:ptCount val="1"/>
                <c:pt idx="0">
                  <c:v>Email</c:v>
                </c:pt>
              </c:strCache>
            </c:strRef>
          </c:tx>
          <c:spPr>
            <a:solidFill>
              <a:schemeClr val="accent1"/>
            </a:solidFill>
            <a:ln>
              <a:noFill/>
            </a:ln>
            <a:effectLst/>
          </c:spPr>
          <c:invertIfNegative val="0"/>
          <c:cat>
            <c:strRef>
              <c:f>'Campaign+Channel'!$A$5:$A$7</c:f>
              <c:strCache>
                <c:ptCount val="2"/>
                <c:pt idx="0">
                  <c:v>A</c:v>
                </c:pt>
                <c:pt idx="1">
                  <c:v>B</c:v>
                </c:pt>
              </c:strCache>
            </c:strRef>
          </c:cat>
          <c:val>
            <c:numRef>
              <c:f>'Campaign+Channel'!$B$5:$B$7</c:f>
              <c:numCache>
                <c:formatCode>"$"#,##0.00</c:formatCode>
                <c:ptCount val="2"/>
                <c:pt idx="0">
                  <c:v>2124.4700000000003</c:v>
                </c:pt>
                <c:pt idx="1">
                  <c:v>1382.3799999999999</c:v>
                </c:pt>
              </c:numCache>
            </c:numRef>
          </c:val>
          <c:extLst>
            <c:ext xmlns:c16="http://schemas.microsoft.com/office/drawing/2014/chart" uri="{C3380CC4-5D6E-409C-BE32-E72D297353CC}">
              <c16:uniqueId val="{00000000-7341-1147-B44A-7B81A12D7ED2}"/>
            </c:ext>
          </c:extLst>
        </c:ser>
        <c:ser>
          <c:idx val="1"/>
          <c:order val="1"/>
          <c:tx>
            <c:strRef>
              <c:f>'Campaign+Channel'!$C$3:$C$4</c:f>
              <c:strCache>
                <c:ptCount val="1"/>
                <c:pt idx="0">
                  <c:v>Instagram</c:v>
                </c:pt>
              </c:strCache>
            </c:strRef>
          </c:tx>
          <c:spPr>
            <a:solidFill>
              <a:schemeClr val="accent2"/>
            </a:solidFill>
            <a:ln>
              <a:noFill/>
            </a:ln>
            <a:effectLst/>
          </c:spPr>
          <c:invertIfNegative val="0"/>
          <c:cat>
            <c:strRef>
              <c:f>'Campaign+Channel'!$A$5:$A$7</c:f>
              <c:strCache>
                <c:ptCount val="2"/>
                <c:pt idx="0">
                  <c:v>A</c:v>
                </c:pt>
                <c:pt idx="1">
                  <c:v>B</c:v>
                </c:pt>
              </c:strCache>
            </c:strRef>
          </c:cat>
          <c:val>
            <c:numRef>
              <c:f>'Campaign+Channel'!$C$5:$C$7</c:f>
              <c:numCache>
                <c:formatCode>"$"#,##0.00</c:formatCode>
                <c:ptCount val="2"/>
                <c:pt idx="0">
                  <c:v>969.46</c:v>
                </c:pt>
                <c:pt idx="1">
                  <c:v>416.14</c:v>
                </c:pt>
              </c:numCache>
            </c:numRef>
          </c:val>
          <c:extLst>
            <c:ext xmlns:c16="http://schemas.microsoft.com/office/drawing/2014/chart" uri="{C3380CC4-5D6E-409C-BE32-E72D297353CC}">
              <c16:uniqueId val="{00000001-7341-1147-B44A-7B81A12D7ED2}"/>
            </c:ext>
          </c:extLst>
        </c:ser>
        <c:ser>
          <c:idx val="2"/>
          <c:order val="2"/>
          <c:tx>
            <c:strRef>
              <c:f>'Campaign+Channel'!$D$3:$D$4</c:f>
              <c:strCache>
                <c:ptCount val="1"/>
                <c:pt idx="0">
                  <c:v>Web Banner</c:v>
                </c:pt>
              </c:strCache>
            </c:strRef>
          </c:tx>
          <c:spPr>
            <a:solidFill>
              <a:schemeClr val="accent3"/>
            </a:solidFill>
            <a:ln>
              <a:noFill/>
            </a:ln>
            <a:effectLst/>
          </c:spPr>
          <c:invertIfNegative val="0"/>
          <c:cat>
            <c:strRef>
              <c:f>'Campaign+Channel'!$A$5:$A$7</c:f>
              <c:strCache>
                <c:ptCount val="2"/>
                <c:pt idx="0">
                  <c:v>A</c:v>
                </c:pt>
                <c:pt idx="1">
                  <c:v>B</c:v>
                </c:pt>
              </c:strCache>
            </c:strRef>
          </c:cat>
          <c:val>
            <c:numRef>
              <c:f>'Campaign+Channel'!$D$5:$D$7</c:f>
              <c:numCache>
                <c:formatCode>"$"#,##0.00</c:formatCode>
                <c:ptCount val="2"/>
                <c:pt idx="0">
                  <c:v>633.06000000000006</c:v>
                </c:pt>
                <c:pt idx="1">
                  <c:v>318.92000000000007</c:v>
                </c:pt>
              </c:numCache>
            </c:numRef>
          </c:val>
          <c:extLst>
            <c:ext xmlns:c16="http://schemas.microsoft.com/office/drawing/2014/chart" uri="{C3380CC4-5D6E-409C-BE32-E72D297353CC}">
              <c16:uniqueId val="{00000002-7341-1147-B44A-7B81A12D7ED2}"/>
            </c:ext>
          </c:extLst>
        </c:ser>
        <c:dLbls>
          <c:showLegendKey val="0"/>
          <c:showVal val="0"/>
          <c:showCatName val="0"/>
          <c:showSerName val="0"/>
          <c:showPercent val="0"/>
          <c:showBubbleSize val="0"/>
        </c:dLbls>
        <c:gapWidth val="219"/>
        <c:overlap val="-27"/>
        <c:axId val="1877191727"/>
        <c:axId val="1877828655"/>
      </c:barChart>
      <c:catAx>
        <c:axId val="18771917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7828655"/>
        <c:crosses val="autoZero"/>
        <c:auto val="1"/>
        <c:lblAlgn val="ctr"/>
        <c:lblOffset val="100"/>
        <c:noMultiLvlLbl val="0"/>
      </c:catAx>
      <c:valAx>
        <c:axId val="1877828655"/>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719172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[Campaign_Data_Week1_new.xlsx]Campaign+Channel!PivotTable4</c:name>
    <c:fmtId val="9"/>
  </c:pivotSource>
  <c:chart>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2891426071741036"/>
          <c:y val="7.1724628171478552E-2"/>
          <c:w val="0.64049759405074369"/>
          <c:h val="0.84204505686789155"/>
        </c:manualLayout>
      </c:layout>
      <c:lineChart>
        <c:grouping val="standard"/>
        <c:varyColors val="0"/>
        <c:ser>
          <c:idx val="0"/>
          <c:order val="0"/>
          <c:tx>
            <c:strRef>
              <c:f>'Campaign+Channel'!$B$3:$B$4</c:f>
              <c:strCache>
                <c:ptCount val="1"/>
                <c:pt idx="0">
                  <c:v>Email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'Campaign+Channel'!$A$5:$A$7</c:f>
              <c:strCache>
                <c:ptCount val="2"/>
                <c:pt idx="0">
                  <c:v>A</c:v>
                </c:pt>
                <c:pt idx="1">
                  <c:v>B</c:v>
                </c:pt>
              </c:strCache>
            </c:strRef>
          </c:cat>
          <c:val>
            <c:numRef>
              <c:f>'Campaign+Channel'!$B$5:$B$7</c:f>
              <c:numCache>
                <c:formatCode>"$"#,##0.00</c:formatCode>
                <c:ptCount val="2"/>
                <c:pt idx="0">
                  <c:v>2124.4700000000003</c:v>
                </c:pt>
                <c:pt idx="1">
                  <c:v>1382.3799999999999</c:v>
                </c:pt>
              </c:numCache>
            </c:numRef>
          </c:val>
          <c:smooth val="0"/>
          <c:extLst>
            <c:ext xmlns:c16="http://schemas.microsoft.com/office/drawing/2014/chart" uri="{C3380CC4-5D6E-409C-BE32-E72D297353CC}">
              <c16:uniqueId val="{00000000-8686-5C40-A815-258D9434867E}"/>
            </c:ext>
          </c:extLst>
        </c:ser>
        <c:ser>
          <c:idx val="1"/>
          <c:order val="1"/>
          <c:tx>
            <c:strRef>
              <c:f>'Campaign+Channel'!$C$3:$C$4</c:f>
              <c:strCache>
                <c:ptCount val="1"/>
                <c:pt idx="0">
                  <c:v>Instagram</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'Campaign+Channel'!$A$5:$A$7</c:f>
              <c:strCache>
                <c:ptCount val="2"/>
                <c:pt idx="0">
                  <c:v>A</c:v>
                </c:pt>
                <c:pt idx="1">
                  <c:v>B</c:v>
                </c:pt>
              </c:strCache>
            </c:strRef>
          </c:cat>
          <c:val>
            <c:numRef>
              <c:f>'Campaign+Channel'!$C$5:$C$7</c:f>
              <c:numCache>
                <c:formatCode>"$"#,##0.00</c:formatCode>
                <c:ptCount val="2"/>
                <c:pt idx="0">
                  <c:v>969.46</c:v>
                </c:pt>
                <c:pt idx="1">
                  <c:v>416.14</c:v>
                </c:pt>
              </c:numCache>
            </c:numRef>
          </c:val>
          <c:smooth val="0"/>
          <c:extLst>
            <c:ext xmlns:c16="http://schemas.microsoft.com/office/drawing/2014/chart" uri="{C3380CC4-5D6E-409C-BE32-E72D297353CC}">
              <c16:uniqueId val="{00000001-8686-5C40-A815-258D9434867E}"/>
            </c:ext>
          </c:extLst>
        </c:ser>
        <c:ser>
          <c:idx val="2"/>
          <c:order val="2"/>
          <c:tx>
            <c:strRef>
              <c:f>'Campaign+Channel'!$D$3:$D$4</c:f>
              <c:strCache>
                <c:ptCount val="1"/>
                <c:pt idx="0">
                  <c:v>Web Banner</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'Campaign+Channel'!$A$5:$A$7</c:f>
              <c:strCache>
                <c:ptCount val="2"/>
                <c:pt idx="0">
                  <c:v>A</c:v>
                </c:pt>
                <c:pt idx="1">
                  <c:v>B</c:v>
                </c:pt>
              </c:strCache>
            </c:strRef>
          </c:cat>
          <c:val>
            <c:numRef>
              <c:f>'Campaign+Channel'!$D$5:$D$7</c:f>
              <c:numCache>
                <c:formatCode>"$"#,##0.00</c:formatCode>
                <c:ptCount val="2"/>
                <c:pt idx="0">
                  <c:v>633.06000000000006</c:v>
                </c:pt>
                <c:pt idx="1">
                  <c:v>318.92000000000007</c:v>
                </c:pt>
              </c:numCache>
            </c:numRef>
          </c:val>
          <c:smooth val="0"/>
          <c:extLst>
            <c:ext xmlns:c16="http://schemas.microsoft.com/office/drawing/2014/chart" uri="{C3380CC4-5D6E-409C-BE32-E72D297353CC}">
              <c16:uniqueId val="{00000002-8686-5C40-A815-258D9434867E}"/>
            </c:ext>
          </c:extLst>
        </c:ser>
        <c:dLbls>
          <c:showLegendKey val="0"/>
          <c:showVal val="0"/>
          <c:showCatName val="0"/>
          <c:showSerName val="0"/>
          <c:showPercent val="0"/>
          <c:showBubbleSize val="0"/>
        </c:dLbls>
        <c:marker val="1"/>
        <c:smooth val="0"/>
        <c:axId val="1877191727"/>
        <c:axId val="1877828655"/>
      </c:lineChart>
      <c:catAx>
        <c:axId val="18771917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7828655"/>
        <c:crosses val="autoZero"/>
        <c:auto val="1"/>
        <c:lblAlgn val="ctr"/>
        <c:lblOffset val="100"/>
        <c:noMultiLvlLbl val="0"/>
      </c:catAx>
      <c:valAx>
        <c:axId val="1877828655"/>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7191727"/>
        <c:crosses val="autoZero"/>
        <c:crossBetween val="between"/>
      </c:valAx>
      <c:spPr>
        <a:noFill/>
        <a:ln>
          <a:noFill/>
        </a:ln>
        <a:effectLst/>
      </c:spPr>
    </c:plotArea>
    <c:legend>
      <c:legendPos val="r"/>
      <c:layout>
        <c:manualLayout>
          <c:xMode val="edge"/>
          <c:yMode val="edge"/>
          <c:x val="0.65691496787523618"/>
          <c:y val="0.37246995426192808"/>
          <c:w val="0.34308503212476382"/>
          <c:h val="0.2450648490541313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1/14/26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1/14/26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5" Type="http://schemas.openxmlformats.org/officeDocument/2006/relationships/oleObject" Target="../embeddings/oleObject16.bin"/><Relationship Id="rId10" Type="http://schemas.openxmlformats.org/officeDocument/2006/relationships/chart" Target="../charts/chart2.xml"/><Relationship Id="rId4" Type="http://schemas.openxmlformats.org/officeDocument/2006/relationships/slideLayout" Target="../slideLayouts/slideLayout2.xml"/><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387798"/>
          </a:xfrm>
        </p:spPr>
        <p:txBody>
          <a:bodyPr anchor="t"/>
          <a:lstStyle/>
          <a:p>
            <a:r>
              <a:rPr lang="en-US" sz="2800" dirty="0"/>
              <a:t>New-Customer Sales by Campaign and Channel </a:t>
            </a:r>
          </a:p>
        </p:txBody>
      </p:sp>
      <p:sp>
        <p:nvSpPr>
          <p:cNvPr id="2" name="Rectangle 1">
            <a:extLst>
              <a:ext uri="{FF2B5EF4-FFF2-40B4-BE49-F238E27FC236}">
                <a16:creationId xmlns:a16="http://schemas.microsoft.com/office/drawing/2014/main" id="{477E036F-AF50-32A5-AA87-4A97F3F6A88D}"/>
              </a:ext>
            </a:extLst>
          </p:cNvPr>
          <p:cNvSpPr/>
          <p:nvPr/>
        </p:nvSpPr>
        <p:spPr>
          <a:xfrm>
            <a:off x="641671" y="5371165"/>
            <a:ext cx="10933200" cy="9578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rPr>
              <a:t>Recommendation: The Team show work on recruiting new customers to their company through their </a:t>
            </a:r>
            <a:r>
              <a:rPr lang="en-US" sz="1600" b="1">
                <a:solidFill>
                  <a:srgbClr val="000000"/>
                </a:solidFill>
              </a:rPr>
              <a:t>email campaign.</a:t>
            </a:r>
            <a:endParaRPr lang="en-US" sz="1200" dirty="0">
              <a:solidFill>
                <a:srgbClr val="000000"/>
              </a:solidFill>
            </a:endParaRPr>
          </a:p>
        </p:txBody>
      </p:sp>
      <p:sp>
        <p:nvSpPr>
          <p:cNvPr id="8" name="Rectangle 7">
            <a:extLst>
              <a:ext uri="{FF2B5EF4-FFF2-40B4-BE49-F238E27FC236}">
                <a16:creationId xmlns:a16="http://schemas.microsoft.com/office/drawing/2014/main" id="{942B0D30-68D6-1748-728E-7FA73A5976EC}"/>
              </a:ext>
            </a:extLst>
          </p:cNvPr>
          <p:cNvSpPr/>
          <p:nvPr/>
        </p:nvSpPr>
        <p:spPr>
          <a:xfrm>
            <a:off x="1709085" y="1740639"/>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Histogram</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1187682" y="2520648"/>
            <a:ext cx="3958720"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6433202" y="2192036"/>
            <a:ext cx="4310998" cy="2869821"/>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7289485" y="1740640"/>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Line Graph</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7" name="Chart 6">
            <a:extLst>
              <a:ext uri="{FF2B5EF4-FFF2-40B4-BE49-F238E27FC236}">
                <a16:creationId xmlns:a16="http://schemas.microsoft.com/office/drawing/2014/main" id="{5630F87A-AECA-01CD-A7B2-C7B6893D55F9}"/>
              </a:ext>
            </a:extLst>
          </p:cNvPr>
          <p:cNvGraphicFramePr>
            <a:graphicFrameLocks/>
          </p:cNvGraphicFramePr>
          <p:nvPr>
            <p:extLst>
              <p:ext uri="{D42A27DB-BD31-4B8C-83A1-F6EECF244321}">
                <p14:modId xmlns:p14="http://schemas.microsoft.com/office/powerpoint/2010/main" val="1084451923"/>
              </p:ext>
            </p:extLst>
          </p:nvPr>
        </p:nvGraphicFramePr>
        <p:xfrm>
          <a:off x="1556657" y="2659619"/>
          <a:ext cx="2901033" cy="2238953"/>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9" name="Chart 8">
            <a:extLst>
              <a:ext uri="{FF2B5EF4-FFF2-40B4-BE49-F238E27FC236}">
                <a16:creationId xmlns:a16="http://schemas.microsoft.com/office/drawing/2014/main" id="{5630F87A-AECA-01CD-A7B2-C7B6893D55F9}"/>
              </a:ext>
            </a:extLst>
          </p:cNvPr>
          <p:cNvGraphicFramePr>
            <a:graphicFrameLocks/>
          </p:cNvGraphicFramePr>
          <p:nvPr>
            <p:extLst>
              <p:ext uri="{D42A27DB-BD31-4B8C-83A1-F6EECF244321}">
                <p14:modId xmlns:p14="http://schemas.microsoft.com/office/powerpoint/2010/main" val="1761793551"/>
              </p:ext>
            </p:extLst>
          </p:nvPr>
        </p:nvGraphicFramePr>
        <p:xfrm>
          <a:off x="6433202" y="2192036"/>
          <a:ext cx="4202141" cy="2869821"/>
        </p:xfrm>
        <a:graphic>
          <a:graphicData uri="http://schemas.openxmlformats.org/drawingml/2006/chart">
            <c:chart xmlns:c="http://schemas.openxmlformats.org/drawingml/2006/chart" xmlns:r="http://schemas.openxmlformats.org/officeDocument/2006/relationships" r:id="rId10"/>
          </a:graphicData>
        </a:graphic>
      </p:graphicFrame>
      <p:sp>
        <p:nvSpPr>
          <p:cNvPr id="10" name="TextBox 9">
            <a:extLst>
              <a:ext uri="{FF2B5EF4-FFF2-40B4-BE49-F238E27FC236}">
                <a16:creationId xmlns:a16="http://schemas.microsoft.com/office/drawing/2014/main" id="{D0169496-7D5F-AFF3-F7A7-46D5A36A127F}"/>
              </a:ext>
            </a:extLst>
          </p:cNvPr>
          <p:cNvSpPr txBox="1"/>
          <p:nvPr/>
        </p:nvSpPr>
        <p:spPr>
          <a:xfrm>
            <a:off x="3472543" y="1915886"/>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err="1">
              <a:solidFill>
                <a:srgbClr val="575757"/>
              </a:solidFill>
            </a:endParaRPr>
          </a:p>
        </p:txBody>
      </p:sp>
      <p:sp>
        <p:nvSpPr>
          <p:cNvPr id="11" name="TextBox 10">
            <a:extLst>
              <a:ext uri="{FF2B5EF4-FFF2-40B4-BE49-F238E27FC236}">
                <a16:creationId xmlns:a16="http://schemas.microsoft.com/office/drawing/2014/main" id="{E440151C-4FAF-04E9-DAB6-4E8744267DDB}"/>
              </a:ext>
            </a:extLst>
          </p:cNvPr>
          <p:cNvSpPr txBox="1"/>
          <p:nvPr/>
        </p:nvSpPr>
        <p:spPr>
          <a:xfrm>
            <a:off x="3287486" y="1872343"/>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err="1">
              <a:solidFill>
                <a:srgbClr val="575757"/>
              </a:solidFill>
            </a:endParaRPr>
          </a:p>
        </p:txBody>
      </p:sp>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129</TotalTime>
  <Words>27</Words>
  <Application>Microsoft Macintosh PowerPoint</Application>
  <PresentationFormat>Widescreen</PresentationFormat>
  <Paragraphs>4</Paragraphs>
  <Slides>1</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6" baseType="lpstr">
      <vt:lpstr>Arial</vt:lpstr>
      <vt:lpstr>Trebuchet MS</vt:lpstr>
      <vt:lpstr>BCG Grid 16:9</vt:lpstr>
      <vt:lpstr>think-cell Slide</vt:lpstr>
      <vt:lpstr>New-Customer Sales by Campaign and Channel </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Angelica Chioma Akuchie</cp:lastModifiedBy>
  <cp:revision>9</cp:revision>
  <cp:lastPrinted>2016-04-06T18:59:25Z</cp:lastPrinted>
  <dcterms:created xsi:type="dcterms:W3CDTF">2025-04-28T17:07:03Z</dcterms:created>
  <dcterms:modified xsi:type="dcterms:W3CDTF">2026-01-14T07:34:49Z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